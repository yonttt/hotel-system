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0152" cy="2194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Integrated Web-Based Booking System and AI-Powered Guest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Assistance with Proactive Cyber Defense Architecture</a:t>
            </a:r>
          </a:p>
          <a:p>
            <a:pPr algn="ctr">
              <a:spcBef>
                <a:spcPts val="1000"/>
              </a:spcBef>
              <a:spcAft>
                <a:spcPts val="500"/>
              </a:spcAft>
            </a:pPr>
            <a:r>
              <a:rPr sz="1400" b="0" i="0">
                <a:solidFill>
                  <a:srgbClr val="F7D8DF"/>
                </a:solidFill>
                <a:latin typeface="Calibri"/>
              </a:rPr>
              <a:t>Thesis Defense  ·  President University  ·  7 August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4160520"/>
            <a:ext cx="5486400" cy="18288"/>
          </a:xfrm>
          <a:prstGeom prst="rect">
            <a:avLst/>
          </a:prstGeom>
          <a:solidFill>
            <a:srgbClr val="F7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329184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142E"/>
                </a:solidFill>
                <a:latin typeface="Calibri"/>
              </a:rPr>
              <a:t>By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Yonathan Marcello S. Tambani  (001202300053)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Immanuel Ardiyanto  (001202300057)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Muh. Fakhri Hisyam Akbar  (001202300093)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572000"/>
            <a:ext cx="31089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142E"/>
                </a:solidFill>
                <a:latin typeface="Calibri"/>
              </a:rPr>
              <a:t>Advisor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Abdul Ghofir, S.Kom., M.Kom.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 i="0">
                <a:solidFill>
                  <a:srgbClr val="C0142E"/>
                </a:solidFill>
                <a:latin typeface="Calibri"/>
              </a:rPr>
              <a:t>Partner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PT Beringin Maju Nusantara (Eva Group)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572000"/>
            <a:ext cx="35661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142E"/>
                </a:solidFill>
                <a:latin typeface="Calibri"/>
              </a:rPr>
              <a:t>Program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Informatics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Faculty of Artificial Intelligence and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Smart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Team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02736" cy="489204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581912"/>
            <a:ext cx="3163824" cy="45628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Yonathan Marcello S. Tambani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1">
                <a:solidFill>
                  <a:srgbClr val="7C6C72"/>
                </a:solidFill>
                <a:latin typeface="Calibri"/>
              </a:rPr>
              <a:t>Project Lead &amp; Full-Stack Developer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MariaDB schema (SQLAlchemy models)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FastAPI backend &amp; REST API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JWT + bcrypt + role-based access control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Security middleware (rate-limit, lockout, headers)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Midtrans payment + background 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17320"/>
            <a:ext cx="3602736" cy="489204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3163824" cy="45628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Immanuel Ardiyanto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1">
                <a:solidFill>
                  <a:srgbClr val="7C6C72"/>
                </a:solidFill>
                <a:latin typeface="Calibri"/>
              </a:rPr>
              <a:t>AI Engineer &amp; Frontend Developer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Public website &amp; admin dashboard (React/Vite)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Bilingual AI chatbot (Groq / Llama 3.1)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Voice input (Whisper speech-to-text)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Knowledge base + live availability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UI design in Figma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417320"/>
            <a:ext cx="3602736" cy="489204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581912"/>
            <a:ext cx="3163824" cy="45628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Muh. Fakhri Hisyam Akbar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1">
                <a:solidFill>
                  <a:srgbClr val="7C6C72"/>
                </a:solidFill>
                <a:latin typeface="Calibri"/>
              </a:rPr>
              <a:t>Security Engineer &amp; QA Tester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Wazuh SIEM real-time monitoring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Cloudflare WAF, DDoS &amp; SSL/TLS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Security alert rules &amp; auto IP block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Penetration testing (SQLi, XSS, brute-force)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QA: Postman, cross-browser &amp; mobile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489204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581912"/>
            <a:ext cx="5047488" cy="45628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Existing  (As-Is)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Manual phone / walk-in booking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No real-time availability  →  double-booking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Slow, manual rate &amp; content updates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Weak app security (SQL injection / XSS)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No real-time security monitoring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No 24/7 guest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422392" cy="1517904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581912"/>
            <a:ext cx="4983479" cy="118871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6A1228"/>
                </a:solidFill>
                <a:latin typeface="Calibri"/>
              </a:rPr>
              <a:t>01 · CMS (WordPress + plugins)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Fast, but plugins widen attack surface; rigid; can't run Wazuh.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090672"/>
            <a:ext cx="5422392" cy="1517904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3255264"/>
            <a:ext cx="4983479" cy="118871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6A1228"/>
                </a:solidFill>
                <a:latin typeface="Calibri"/>
              </a:rPr>
              <a:t>02 · SaaS PMS (Cloudbeds)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Reliable but a black box — no code/log access; can't harden.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764024"/>
            <a:ext cx="5422392" cy="1517904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28616"/>
            <a:ext cx="4983479" cy="118871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03 · Custom Build + Cyber Defense   ✓ CHOSEN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Full control of code &amp; server; true defense-in-depth; no fees.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Chosen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02736" cy="251460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581912"/>
            <a:ext cx="3163824" cy="218541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Integrated Booking Platform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Real-time availability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Online payment (Midtrans)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Staff operations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17320"/>
            <a:ext cx="3602736" cy="251460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3163824" cy="218541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AI Guest Assistant — Eva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Bilingual (ID / EN)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24/7 instant answers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Live data from the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417320"/>
            <a:ext cx="3602736" cy="251460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581912"/>
            <a:ext cx="3163824" cy="218541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Proactive Cyber Defense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Edge — Cloudflare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Host — Wazuh SIEM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Application hardening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14800"/>
            <a:ext cx="11183112" cy="219456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279392"/>
            <a:ext cx="10744200" cy="18653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Chosen  (To-Be)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Custom React + FastAPI platform — the hotel owns every line of code and the server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OWASP hardening in the code + Wazuh SIEM running natively on the server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Real-time sync: public website  ⇄  admin dashboard  ⇄  one database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No per-booking commission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02736" cy="233172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581912"/>
            <a:ext cx="3163824" cy="200253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01 · Frontend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React.js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Vite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Tailwind CSS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Axios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17320"/>
            <a:ext cx="3602736" cy="233172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3163824" cy="200253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02 · 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Python · FastAPI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SQLAlchemy · Pydantic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APScheduler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Uvicorn / Gunicorn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417320"/>
            <a:ext cx="3602736" cy="233172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581912"/>
            <a:ext cx="3163824" cy="200253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03 · Database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MariaDB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(MySQL-compatible)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50208"/>
            <a:ext cx="3602736" cy="233172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114800"/>
            <a:ext cx="3163824" cy="200253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04 · AI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Groq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Llama 3.1 8B Instant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Whisper Large v3 Turbo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3950208"/>
            <a:ext cx="3602736" cy="233172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114800"/>
            <a:ext cx="3163824" cy="200253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05 · Security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JWT · bcrypt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SlowAPI (rate-limit)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Midtrans · reCAPTCHA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Cloudflare WAF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3950208"/>
            <a:ext cx="3602736" cy="233172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114800"/>
            <a:ext cx="3163824" cy="200253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0142E"/>
                </a:solidFill>
                <a:latin typeface="Calibri"/>
              </a:rPr>
              <a:t>06 · Monitoring &amp; DevOps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Wazuh SIEM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GitHub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Nginx + Gunicorn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A2226"/>
                </a:solidFill>
                <a:latin typeface="Calibri"/>
              </a:rPr>
              <a:t>•  Postman · Figma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Module 1 — Booking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1">
                <a:solidFill>
                  <a:srgbClr val="7C6C72"/>
                </a:solidFill>
                <a:latin typeface="Calibri"/>
              </a:rPr>
              <a:t>Real-time direct booking, online payment, and one operations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766560" cy="466344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764792"/>
            <a:ext cx="6327648" cy="43342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How it works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Live availability from the database  →  no double-booking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Guests book without an account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Online payment via Midtrans (SHA-512-verified webhook)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Unpaid booking auto-expires after 2 hours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Staff: check-in / out, room-status grid, night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4233672" cy="466344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71816" y="1764792"/>
            <a:ext cx="3794760" cy="43342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Results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Online + walk-in write to one database — channels never conflict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Deployed live at evahotel.web.id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Functional tests passed (Form 5 matrix)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Module 2 — AI Chatbot (Eva)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1">
                <a:solidFill>
                  <a:srgbClr val="7C6C72"/>
                </a:solidFill>
                <a:latin typeface="Calibri"/>
              </a:rPr>
              <a:t>Context-aware bilingual guest assistance  ·  developed by Immanuel.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766560" cy="466344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764792"/>
            <a:ext cx="6327648" cy="43342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How it works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Replies in the guest's language — Indonesian or English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Groq API running Llama 3.1 8B Instant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RAG: hotel knowledge base + live room availability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Ask by typing or by voice (Whisper speech-to-text)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Falls back to keyword match / front-desk contact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4233672" cy="466344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71816" y="1764792"/>
            <a:ext cx="3794760" cy="43342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Highlights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24/7 instant answers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No guest PII sent to the model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Graceful fallback if the LLM is offline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Module 3 — Cyber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1">
                <a:solidFill>
                  <a:srgbClr val="7C6C72"/>
                </a:solidFill>
                <a:latin typeface="Calibri"/>
              </a:rPr>
              <a:t>Defense-in-depth — three layers, each assuming the one in front may fail.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02736" cy="448056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810512"/>
            <a:ext cx="3163824" cy="41513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Phase 01 — Edge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1">
                <a:solidFill>
                  <a:srgbClr val="7C6C72"/>
                </a:solidFill>
                <a:latin typeface="Calibri"/>
              </a:rPr>
              <a:t>Cloudflare  (Fakhri)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Cloudflare in front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Web Application Firewall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DDoS protection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TLS / 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645920"/>
            <a:ext cx="3602736" cy="448056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10512"/>
            <a:ext cx="3163824" cy="41513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Phase 02 — Monitoring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1">
                <a:solidFill>
                  <a:srgbClr val="7C6C72"/>
                </a:solidFill>
                <a:latin typeface="Calibri"/>
              </a:rPr>
              <a:t>Wazuh SIEM  (Fakhri)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Wazuh SIEM on its own VPS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Detects SQLi / XSS / brute-force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Automatic IP blocking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Telegram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1645920"/>
            <a:ext cx="3602736" cy="448056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810512"/>
            <a:ext cx="3163824" cy="41513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Phase 03 — Application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1">
                <a:solidFill>
                  <a:srgbClr val="7C6C72"/>
                </a:solidFill>
                <a:latin typeface="Calibri"/>
              </a:rPr>
              <a:t>In-code security  (Yonathan)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JWT + RBAC + bcrypt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Rate-limit + brute-force lockout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Parameterized queries (anti-SQLi)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SHA-512-verified payment webhook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828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6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F7D8DF"/>
                </a:solidFill>
                <a:latin typeface="Calibri"/>
              </a:rPr>
              <a:t>Live booking  →  Midtrans payment  →  front-desk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Feedback from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7C6C72"/>
                </a:solidFill>
                <a:latin typeface="Calibri"/>
              </a:rPr>
              <a:t>Validated with Eva Group  ·  replace scores with the actual Form 5 values.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52120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645920"/>
              </a:tblGrid>
              <a:tr h="7863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 marL="127000" marT="50800" marB="50800">
                    <a:solidFill>
                      <a:srgbClr val="6A1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anchor="ctr" marL="127000" marT="50800" marB="50800">
                    <a:solidFill>
                      <a:srgbClr val="6A122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0" i="0">
                          <a:solidFill>
                            <a:srgbClr val="2A2226"/>
                          </a:solidFill>
                          <a:latin typeface="Calibri"/>
                        </a:rPr>
                        <a:t>Booking Platform</a:t>
                      </a:r>
                    </a:p>
                  </a:txBody>
                  <a:tcPr anchor="ctr" marL="127000" marT="50800" marB="50800">
                    <a:solidFill>
                      <a:srgbClr val="F9E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1" i="0">
                          <a:solidFill>
                            <a:srgbClr val="2A2226"/>
                          </a:solidFill>
                          <a:latin typeface="Calibri"/>
                        </a:rPr>
                        <a:t>9 / 10</a:t>
                      </a:r>
                    </a:p>
                  </a:txBody>
                  <a:tcPr anchor="ctr" marL="127000" marT="50800" marB="50800">
                    <a:solidFill>
                      <a:srgbClr val="F9E8E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0" i="0">
                          <a:solidFill>
                            <a:srgbClr val="2A2226"/>
                          </a:solidFill>
                          <a:latin typeface="Calibri"/>
                        </a:rPr>
                        <a:t>AI Guest Assistant</a:t>
                      </a:r>
                    </a:p>
                  </a:txBody>
                  <a:tcPr anchor="ctr" marL="127000" marT="50800" marB="50800">
                    <a:solidFill>
                      <a:srgbClr val="F1D5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1" i="0">
                          <a:solidFill>
                            <a:srgbClr val="2A2226"/>
                          </a:solidFill>
                          <a:latin typeface="Calibri"/>
                        </a:rPr>
                        <a:t>8 / 10</a:t>
                      </a:r>
                    </a:p>
                  </a:txBody>
                  <a:tcPr anchor="ctr" marL="127000" marT="50800" marB="50800">
                    <a:solidFill>
                      <a:srgbClr val="F1D5D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0" i="0">
                          <a:solidFill>
                            <a:srgbClr val="2A2226"/>
                          </a:solidFill>
                          <a:latin typeface="Calibri"/>
                        </a:rPr>
                        <a:t>Security &amp; Monitoring</a:t>
                      </a:r>
                    </a:p>
                  </a:txBody>
                  <a:tcPr anchor="ctr" marL="127000" marT="50800" marB="50800">
                    <a:solidFill>
                      <a:srgbClr val="F9E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1" i="0">
                          <a:solidFill>
                            <a:srgbClr val="2A2226"/>
                          </a:solidFill>
                          <a:latin typeface="Calibri"/>
                        </a:rPr>
                        <a:t>9 / 10</a:t>
                      </a:r>
                    </a:p>
                  </a:txBody>
                  <a:tcPr anchor="ctr" marL="127000" marT="50800" marB="50800">
                    <a:solidFill>
                      <a:srgbClr val="F9E8E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0" i="0">
                          <a:solidFill>
                            <a:srgbClr val="2A2226"/>
                          </a:solidFill>
                          <a:latin typeface="Calibri"/>
                        </a:rPr>
                        <a:t>Overall Satisfaction</a:t>
                      </a:r>
                    </a:p>
                  </a:txBody>
                  <a:tcPr anchor="ctr" marL="127000" marT="50800" marB="50800">
                    <a:solidFill>
                      <a:srgbClr val="F1D5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400" b="1" i="0">
                          <a:solidFill>
                            <a:srgbClr val="2A2226"/>
                          </a:solidFill>
                          <a:latin typeface="Calibri"/>
                        </a:rPr>
                        <a:t>9 / 10</a:t>
                      </a:r>
                    </a:p>
                  </a:txBody>
                  <a:tcPr anchor="ctr" marL="127000" marT="50800" marB="50800">
                    <a:solidFill>
                      <a:srgbClr val="F1D5D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89320" y="1691640"/>
            <a:ext cx="5696712" cy="3931920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8776" y="1856232"/>
            <a:ext cx="5257800" cy="360273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What the client said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Real-time availability removed double-booking and manual errors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Guests get instant answers at any hour; front desk less burdened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Layered security gives visibility the hotel never had before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A2226"/>
                </a:solidFill>
                <a:latin typeface="Calibri"/>
              </a:rPr>
              <a:t>•  Valued the team's responsiveness and grasp of their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8696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A1228"/>
                </a:solidFill>
                <a:latin typeface="Calibri"/>
              </a:rPr>
              <a:t>Conclusion &amp; Future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0233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7C6C72"/>
                </a:solidFill>
                <a:latin typeface="Calibri"/>
              </a:rPr>
              <a:t>Eva Group Hotel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25603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4892040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581912"/>
            <a:ext cx="5047488" cy="4562855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Conclusion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Manual process  →  one integrated platform (no double-booking)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Three modules delivered: Booking, AI Assistant, Cyber Defense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Security built in across edge, host &amp; application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A2226"/>
                </a:solidFill>
                <a:latin typeface="Calibri"/>
              </a:rPr>
              <a:t>•  Deployed live and fully owned — no per-booking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422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C0142E"/>
                </a:solidFill>
                <a:latin typeface="Calibri"/>
              </a:rPr>
              <a:t>Future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685800" cy="658368"/>
          </a:xfrm>
          <a:prstGeom prst="roundRect">
            <a:avLst>
              <a:gd name="adj" fmla="val 6000"/>
            </a:avLst>
          </a:prstGeom>
          <a:solidFill>
            <a:srgbClr val="6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6858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9168" y="1920240"/>
            <a:ext cx="4626864" cy="658368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20240"/>
            <a:ext cx="44348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2226"/>
                </a:solidFill>
                <a:latin typeface="Calibri"/>
              </a:rPr>
              <a:t>Native mobile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88920"/>
            <a:ext cx="685800" cy="658368"/>
          </a:xfrm>
          <a:prstGeom prst="roundRect">
            <a:avLst>
              <a:gd name="adj" fmla="val 6000"/>
            </a:avLst>
          </a:prstGeom>
          <a:solidFill>
            <a:srgbClr val="6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788920"/>
            <a:ext cx="6858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9168" y="2788920"/>
            <a:ext cx="4626864" cy="658368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788920"/>
            <a:ext cx="44348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2226"/>
                </a:solidFill>
                <a:latin typeface="Calibri"/>
              </a:rPr>
              <a:t>Occupancy &amp; revenue analytics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685800" cy="658368"/>
          </a:xfrm>
          <a:prstGeom prst="roundRect">
            <a:avLst>
              <a:gd name="adj" fmla="val 6000"/>
            </a:avLst>
          </a:prstGeom>
          <a:solidFill>
            <a:srgbClr val="6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657600"/>
            <a:ext cx="6858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9168" y="3657600"/>
            <a:ext cx="4626864" cy="658368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657600"/>
            <a:ext cx="44348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2226"/>
                </a:solidFill>
                <a:latin typeface="Calibri"/>
              </a:rPr>
              <a:t>OTA channel synchronization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526279"/>
            <a:ext cx="685800" cy="658368"/>
          </a:xfrm>
          <a:prstGeom prst="roundRect">
            <a:avLst>
              <a:gd name="adj" fmla="val 6000"/>
            </a:avLst>
          </a:prstGeom>
          <a:solidFill>
            <a:srgbClr val="6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526279"/>
            <a:ext cx="6858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4526279"/>
            <a:ext cx="4626864" cy="658368"/>
          </a:xfrm>
          <a:prstGeom prst="roundRect">
            <a:avLst>
              <a:gd name="adj" fmla="val 6000"/>
            </a:avLst>
          </a:prstGeom>
          <a:solidFill>
            <a:srgbClr val="F1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526279"/>
            <a:ext cx="44348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2226"/>
                </a:solidFill>
                <a:latin typeface="Calibri"/>
              </a:rPr>
              <a:t>More languages &amp; richer voice for Eva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394960"/>
            <a:ext cx="685800" cy="658368"/>
          </a:xfrm>
          <a:prstGeom prst="roundRect">
            <a:avLst>
              <a:gd name="adj" fmla="val 6000"/>
            </a:avLst>
          </a:prstGeom>
          <a:solidFill>
            <a:srgbClr val="6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5394960"/>
            <a:ext cx="6858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9168" y="5394960"/>
            <a:ext cx="4626864" cy="658368"/>
          </a:xfrm>
          <a:prstGeom prst="roundRect">
            <a:avLst>
              <a:gd name="adj" fmla="val 6000"/>
            </a:avLst>
          </a:prstGeom>
          <a:solidFill>
            <a:srgbClr val="F9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5394960"/>
            <a:ext cx="44348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2226"/>
                </a:solidFill>
                <a:latin typeface="Calibri"/>
              </a:rPr>
              <a:t>Continuous security hardening from SIEM findings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0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2194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0" i="0">
                <a:solidFill>
                  <a:srgbClr val="F7D8DF"/>
                </a:solidFill>
                <a:latin typeface="Calibri"/>
              </a:rP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7D8DF"/>
                </a:solidFill>
                <a:latin typeface="Calibri"/>
              </a:rPr>
              <a:t>Yonathan Marcello S. Tambani   ·   Immanuel Ardiyanto   ·   Muh. Fakhri Hisyam Akbar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